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8" r:id="rId7"/>
    <p:sldId id="269" r:id="rId8"/>
    <p:sldId id="262" r:id="rId9"/>
    <p:sldId id="266" r:id="rId10"/>
  </p:sldIdLst>
  <p:sldSz cx="9144000" cy="5143500" type="screen16x9"/>
  <p:notesSz cx="5143500" cy="9144000"/>
  <p:embeddedFontLst>
    <p:embeddedFont>
      <p:font typeface="Instrument Sans Bold" panose="020B0604020202020204" charset="0"/>
      <p:regular r:id="rId12"/>
    </p:embeddedFont>
    <p:embeddedFont>
      <p:font typeface="Instrument Sans Medium" panose="020B0604020202020204" charset="0"/>
      <p:regular r:id="rId13"/>
    </p:embeddedFont>
    <p:embeddedFont>
      <p:font typeface="Instrument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063"/>
    <a:srgbClr val="3A6E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41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1742033"/>
            <a:ext cx="1959698" cy="21535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4010174" y="1784524"/>
            <a:ext cx="29904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ANALYST · CASE STUDY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201409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Journey Analysis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513781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Mavi E-Commerce Website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5119" y="29478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structured evaluation of the customer experience — from landing on the homepage to successfully adding a product to the cart.</a:t>
            </a:r>
            <a:endParaRPr lang="en-US" sz="11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78F78D-014D-A33D-35FC-47B3F22A1CC2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85C69228-C3F2-B5F8-3E60-82E8A0A5C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280" y="0"/>
            <a:ext cx="365293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747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Scope of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96776"/>
            <a:ext cx="8151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study covers the customer journey from the moment a user lands on the homepage until a product is successfully added to the shopping cart. Checkout, payment, and order confirmation are not included.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476896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71903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Size Select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299" y="360440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Detail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0540" y="37190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Product List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18781" y="37190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4415" y="371903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Homepage</a:t>
            </a:r>
            <a:endParaRPr lang="en-US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C43D7F-E085-3521-F2A4-E7238B9C7CED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181" y="67070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Detailed Customer Journey Flowchart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486392" y="1346243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Item placed in cart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86392" y="1972901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View Product Detail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6392" y="2267379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PDP displays product info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86392" y="2894037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Browse or Search?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6392" y="3188515"/>
            <a:ext cx="370899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Choose navigation path</a:t>
            </a:r>
            <a:endParaRPr lang="en-US" sz="115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FF99FB-48A7-B397-B71A-A721CADFFE06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EC9F0F90-95B5-F32C-5756-D8D5E29E1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59" y="1297338"/>
            <a:ext cx="8647882" cy="2548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479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Customer's Perspective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129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the customer's point of view, the journey should feel simple, clear, and confidence-building at every step.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7579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226246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Find Products Easily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532757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 access to categories and search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77579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3130" y="2226246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Compare Options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733130" y="2532757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multiple products side by side</a:t>
            </a:r>
            <a:r>
              <a:rPr lang="tr-TR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clearly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177579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9445" y="2226246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Read Product Details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09445" y="2532757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descriptions, materials,</a:t>
            </a:r>
            <a:r>
              <a:rPr lang="tr-TR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photos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pricing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56816" y="3318570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</a:t>
            </a:r>
            <a:r>
              <a:rPr lang="tr-TR" sz="1350" dirty="0" err="1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Assistant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56816" y="362508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Get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quick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product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answers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interactive</a:t>
            </a:r>
            <a:r>
              <a:rPr lang="tr-TR" sz="11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1100" dirty="0" err="1">
                <a:solidFill>
                  <a:srgbClr val="1E3063"/>
                </a:solidFill>
                <a:latin typeface="Instrument Sans Medium" panose="020B0604020202020204" charset="0"/>
              </a:rPr>
              <a:t>guidance</a:t>
            </a:r>
            <a:endParaRPr lang="en-US" sz="110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3269903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3130" y="3318570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Add to Cart Smoothly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733130" y="362508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friction when completing this step</a:t>
            </a:r>
            <a:endParaRPr lang="en-US" sz="11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1C15D6-3EFE-678A-6DF0-2FAD41711D09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4" name="Grafik 23" descr="Robot ana hat">
            <a:extLst>
              <a:ext uri="{FF2B5EF4-FFF2-40B4-BE49-F238E27FC236}">
                <a16:creationId xmlns:a16="http://schemas.microsoft.com/office/drawing/2014/main" id="{4A28D986-1AEA-6264-6849-62D70ECE8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612" y="3219191"/>
            <a:ext cx="416532" cy="416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24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Website Strengths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896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a Business Analyst perspective, Mavi's website shows several strong design and usability choices that support a positive customer experience.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62063"/>
            <a:ext cx="4004965" cy="1308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02287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Clean Navigation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329383"/>
            <a:ext cx="36071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Top menu is organized and intuitive.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Reduces confusion and helps users find products faster.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862063"/>
            <a:ext cx="4005039" cy="13085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202287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High-Quality Product Images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79851" y="2329383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Large, clear photos with multiple angles.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Builds trust and supports purchase decisions.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312393"/>
            <a:ext cx="4004965" cy="13085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347320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Simple Add-to-Cart Process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33127" y="3779713"/>
            <a:ext cx="36071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button is visible and easy to use.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Lowers friction and supports higher add-to-cart rates.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312393"/>
            <a:ext cx="4005039" cy="13085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79851" y="347320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Consistent Page Design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79851" y="3779713"/>
            <a:ext cx="36072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Uniform layout across all pages.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Creates a familiar experience that reduces cognitive load.</a:t>
            </a:r>
            <a:endParaRPr lang="en-US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BFF3D2-8962-E862-46E4-7BE9F8477650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9">
            <a:extLst>
              <a:ext uri="{FF2B5EF4-FFF2-40B4-BE49-F238E27FC236}">
                <a16:creationId xmlns:a16="http://schemas.microsoft.com/office/drawing/2014/main" id="{AD871B7E-FBC1-7A50-8D04-9DBA594B9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744" y="1408750"/>
            <a:ext cx="2520040" cy="22400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9B7CFCAB-4CD0-D36B-DA51-B2CAFBC61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035" y="1364976"/>
            <a:ext cx="2320556" cy="23267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295852C6-545F-23F7-C450-545087A33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16" y="1338851"/>
            <a:ext cx="2365578" cy="23536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 0"/>
          <p:cNvSpPr/>
          <p:nvPr/>
        </p:nvSpPr>
        <p:spPr>
          <a:xfrm>
            <a:off x="430807" y="406971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Positive User Experience Findings</a:t>
            </a:r>
            <a:r>
              <a:rPr lang="tr-TR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tr-TR" sz="240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With</a:t>
            </a:r>
            <a:r>
              <a:rPr lang="tr-TR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tr-TR" sz="240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Screenshots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0400" y="893148"/>
            <a:ext cx="8151763" cy="25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findings</a:t>
            </a:r>
            <a:r>
              <a:rPr lang="tr-TR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successful design choices that contribute to a positive customer journey.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34601" y="3897702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tr-TR" sz="1200" dirty="0" err="1">
                <a:solidFill>
                  <a:srgbClr val="1E3063"/>
                </a:solidFill>
                <a:latin typeface="Instrument Sans SemiBold" panose="020B0604020202020204" charset="0"/>
              </a:rPr>
              <a:t>Clear</a:t>
            </a:r>
            <a:r>
              <a:rPr lang="tr-TR" sz="1200" dirty="0">
                <a:solidFill>
                  <a:srgbClr val="1E3063"/>
                </a:solidFill>
                <a:latin typeface="Instrument Sans SemiBold" panose="020B0604020202020204" charset="0"/>
              </a:rPr>
              <a:t> Product Information</a:t>
            </a:r>
            <a:endParaRPr lang="en-US" sz="1200" dirty="0">
              <a:solidFill>
                <a:srgbClr val="1E3063"/>
              </a:solidFill>
              <a:latin typeface="Instrument Sans SemiBold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4601" y="4098947"/>
            <a:ext cx="2606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Product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details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payment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options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return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&amp;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exchange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information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are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presented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clearly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in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sufficient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detail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  <a:endParaRPr lang="en-US" sz="85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151479" y="389614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tr-TR" sz="1200" dirty="0" err="1">
                <a:solidFill>
                  <a:srgbClr val="1E3063"/>
                </a:solidFill>
                <a:latin typeface="Instrument Sans SemiBold" panose="020B0604020202020204" charset="0"/>
              </a:rPr>
              <a:t>Helpful</a:t>
            </a:r>
            <a:r>
              <a:rPr lang="tr-TR" sz="1200" dirty="0">
                <a:solidFill>
                  <a:srgbClr val="1E3063"/>
                </a:solidFill>
                <a:latin typeface="Instrument Sans SemiBold" panose="020B0604020202020204" charset="0"/>
              </a:rPr>
              <a:t> AI </a:t>
            </a:r>
            <a:r>
              <a:rPr lang="tr-TR" sz="1200" dirty="0" err="1">
                <a:solidFill>
                  <a:srgbClr val="1E3063"/>
                </a:solidFill>
                <a:latin typeface="Instrument Sans SemiBold" panose="020B0604020202020204" charset="0"/>
              </a:rPr>
              <a:t>Assistant</a:t>
            </a:r>
            <a:endParaRPr lang="en-US" sz="1200" dirty="0">
              <a:solidFill>
                <a:srgbClr val="1E3063"/>
              </a:solidFill>
              <a:latin typeface="Instrument Sans SemiBold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64035" y="4098055"/>
            <a:ext cx="2606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AI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Assistant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provides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clear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relevant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consistent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guidance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helping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users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find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information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navigate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shopping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850" dirty="0" err="1">
                <a:solidFill>
                  <a:srgbClr val="1E3063"/>
                </a:solidFill>
                <a:latin typeface="Instrument Sans Medium" panose="020B0604020202020204" charset="0"/>
              </a:rPr>
              <a:t>experience</a:t>
            </a:r>
            <a:r>
              <a:rPr lang="tr-TR" sz="85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  <a:endParaRPr lang="en-US" sz="85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949744" y="3890049"/>
            <a:ext cx="2606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Visible Add-to-Cart Confirmation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49744" y="4097052"/>
            <a:ext cx="2606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add-to-cart pop-up is clear and noticeable, giving immediate feedback that the product has been added successfully.</a:t>
            </a:r>
            <a:endParaRPr lang="en-US" sz="85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F026A6-8580-BC68-2B2B-D7327A8D9652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16B90BB-B7B6-028F-D967-8F71D5D4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53" y="2756264"/>
            <a:ext cx="5542920" cy="14827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2D99F3C-DC01-54D5-EC68-DC82883A1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228" y="803354"/>
            <a:ext cx="6217164" cy="11805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F856909-CB13-CB30-00A3-10F73DD0600C}"/>
              </a:ext>
            </a:extLst>
          </p:cNvPr>
          <p:cNvSpPr/>
          <p:nvPr/>
        </p:nvSpPr>
        <p:spPr>
          <a:xfrm>
            <a:off x="7968343" y="4702629"/>
            <a:ext cx="1175657" cy="44087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76E301A-587F-D39F-A9A6-86363B17142C}"/>
              </a:ext>
            </a:extLst>
          </p:cNvPr>
          <p:cNvSpPr/>
          <p:nvPr/>
        </p:nvSpPr>
        <p:spPr>
          <a:xfrm>
            <a:off x="6255965" y="3126786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tr-TR" sz="1200" dirty="0" err="1">
                <a:solidFill>
                  <a:srgbClr val="1E3063"/>
                </a:solidFill>
                <a:latin typeface="Instrument Sans SemiBold" panose="020B0604020202020204" charset="0"/>
              </a:rPr>
              <a:t>Clear</a:t>
            </a:r>
            <a:r>
              <a:rPr lang="tr-TR" sz="1200" dirty="0">
                <a:solidFill>
                  <a:srgbClr val="1E3063"/>
                </a:solidFill>
                <a:latin typeface="Instrument Sans SemiBold" panose="020B0604020202020204" charset="0"/>
              </a:rPr>
              <a:t> Cart Information</a:t>
            </a:r>
            <a:endParaRPr lang="en-US" sz="1200" dirty="0">
              <a:solidFill>
                <a:srgbClr val="1E3063"/>
              </a:solidFill>
              <a:latin typeface="Instrument Sans SemiBold" panose="020B060402020202020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F554E29-70B2-6F32-AA33-4D1DDD7C7BE5}"/>
              </a:ext>
            </a:extLst>
          </p:cNvPr>
          <p:cNvSpPr/>
          <p:nvPr/>
        </p:nvSpPr>
        <p:spPr>
          <a:xfrm>
            <a:off x="6255964" y="3316544"/>
            <a:ext cx="2606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Product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payment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information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in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cart is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presented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clearly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making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it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easy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to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review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order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  <a:endParaRPr lang="en-US" sz="90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CED79C3-1ACB-0874-9607-5AE3882AA28B}"/>
              </a:ext>
            </a:extLst>
          </p:cNvPr>
          <p:cNvSpPr/>
          <p:nvPr/>
        </p:nvSpPr>
        <p:spPr>
          <a:xfrm>
            <a:off x="353453" y="1032315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Detailed &amp; Clear Filters</a:t>
            </a:r>
            <a:endParaRPr lang="en-US" sz="1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E07A63A-531E-F7D3-8B38-8E360056795A}"/>
              </a:ext>
            </a:extLst>
          </p:cNvPr>
          <p:cNvSpPr/>
          <p:nvPr/>
        </p:nvSpPr>
        <p:spPr>
          <a:xfrm>
            <a:off x="353454" y="1233560"/>
            <a:ext cx="210236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filters are detailed, well-organized, and easy to understand, making product discovery more efficient.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4247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08905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Improvement Opportunities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34045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are constructive</a:t>
            </a:r>
            <a:r>
              <a:rPr lang="tr-TR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BA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observations — small changes that could meaningfully improve the customer experience and business results.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400249"/>
            <a:ext cx="4722763" cy="10441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6139" y="1534120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Too Many Promotional Banners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16139" y="1781473"/>
            <a:ext cx="439787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Homepage has many banners competing for attention.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May distract from the main shopping goal.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Recommendation: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Limit to 1–2 key promotions above the fold.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545332"/>
            <a:ext cx="4722763" cy="11509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6139" y="2653080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tr-TR" sz="1150" dirty="0" err="1">
                <a:solidFill>
                  <a:srgbClr val="1E3063"/>
                </a:solidFill>
                <a:latin typeface="Instrument Sans SemiBold" panose="020B0604020202020204" charset="0"/>
              </a:rPr>
              <a:t>Navigation</a:t>
            </a:r>
            <a:r>
              <a:rPr lang="tr-TR" sz="1150" dirty="0">
                <a:solidFill>
                  <a:srgbClr val="1E3063"/>
                </a:solidFill>
                <a:latin typeface="Instrument Sans SemiBold" panose="020B0604020202020204" charset="0"/>
              </a:rPr>
              <a:t> Menu Can </a:t>
            </a:r>
            <a:r>
              <a:rPr lang="tr-TR" sz="1150" dirty="0" err="1">
                <a:solidFill>
                  <a:srgbClr val="1E3063"/>
                </a:solidFill>
                <a:latin typeface="Instrument Sans SemiBold" panose="020B0604020202020204" charset="0"/>
              </a:rPr>
              <a:t>Feel</a:t>
            </a:r>
            <a:r>
              <a:rPr lang="tr-TR" sz="1150" dirty="0">
                <a:solidFill>
                  <a:srgbClr val="1E3063"/>
                </a:solidFill>
                <a:latin typeface="Instrument Sans SemiBold" panose="020B0604020202020204" charset="0"/>
              </a:rPr>
              <a:t> </a:t>
            </a:r>
            <a:r>
              <a:rPr lang="tr-TR" sz="1150" dirty="0" err="1">
                <a:solidFill>
                  <a:srgbClr val="1E3063"/>
                </a:solidFill>
                <a:latin typeface="Instrument Sans SemiBold" panose="020B0604020202020204" charset="0"/>
              </a:rPr>
              <a:t>Overwhelming</a:t>
            </a:r>
            <a:endParaRPr lang="en-US" sz="1150" dirty="0">
              <a:solidFill>
                <a:srgbClr val="1E3063"/>
              </a:solidFill>
              <a:latin typeface="Instrument Sans SemiBold" panose="020B060402020202020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116139" y="2900432"/>
            <a:ext cx="4397871" cy="706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</a:t>
            </a:r>
            <a:r>
              <a:rPr lang="tr-TR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: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mega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menu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contains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dense link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lists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,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making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it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informative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but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visually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crowded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Users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may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feel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overwhelmed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Recommendation: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Simplify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navigation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hierarchy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and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reduce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noise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  <a:endParaRPr lang="en-US" sz="90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788386"/>
            <a:ext cx="4722763" cy="10514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6139" y="3896132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tr-TR" sz="1150" b="1" dirty="0" err="1">
                <a:solidFill>
                  <a:srgbClr val="1E3063"/>
                </a:solidFill>
                <a:latin typeface="Instrument Sans SemiBold" panose="020B0604020202020204" charset="0"/>
              </a:rPr>
              <a:t>Guest</a:t>
            </a:r>
            <a:r>
              <a:rPr lang="tr-TR" sz="1150" b="1" dirty="0">
                <a:solidFill>
                  <a:srgbClr val="1E3063"/>
                </a:solidFill>
                <a:latin typeface="Instrument Sans SemiBold" panose="020B0604020202020204" charset="0"/>
              </a:rPr>
              <a:t> </a:t>
            </a:r>
            <a:r>
              <a:rPr lang="tr-TR" sz="1150" b="1" dirty="0" err="1">
                <a:solidFill>
                  <a:srgbClr val="1E3063"/>
                </a:solidFill>
                <a:latin typeface="Instrument Sans SemiBold" panose="020B0604020202020204" charset="0"/>
              </a:rPr>
              <a:t>Favoriting</a:t>
            </a:r>
            <a:r>
              <a:rPr lang="tr-TR" sz="1150" b="1" dirty="0">
                <a:solidFill>
                  <a:srgbClr val="1E3063"/>
                </a:solidFill>
                <a:latin typeface="Instrument Sans SemiBold" panose="020B0604020202020204" charset="0"/>
              </a:rPr>
              <a:t> Is </a:t>
            </a:r>
            <a:r>
              <a:rPr lang="tr-TR" sz="1150" b="1" dirty="0" err="1">
                <a:solidFill>
                  <a:srgbClr val="1E3063"/>
                </a:solidFill>
                <a:latin typeface="Instrument Sans SemiBold" panose="020B0604020202020204" charset="0"/>
              </a:rPr>
              <a:t>Restricted</a:t>
            </a:r>
            <a:endParaRPr lang="tr-TR" sz="1150" dirty="0">
              <a:solidFill>
                <a:srgbClr val="1E3063"/>
              </a:solidFill>
              <a:latin typeface="Instrument Sans SemiBold" panose="020B060402020202020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116139" y="4136953"/>
            <a:ext cx="4397871" cy="62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Observation: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Adding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products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to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a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favlist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requires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an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active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user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account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session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Users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in a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hurry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or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browsing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casually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may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abandon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saving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items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instead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of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completing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the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login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flow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.</a:t>
            </a:r>
            <a:endParaRPr lang="en-US" sz="900" dirty="0">
              <a:solidFill>
                <a:srgbClr val="1E3063"/>
              </a:solidFill>
              <a:latin typeface="Instrument Sans Medium" panose="020B0604020202020204" charset="0"/>
            </a:endParaRP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Recommendation: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Enable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guest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wishlist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persistence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using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local</a:t>
            </a:r>
            <a:r>
              <a:rPr lang="tr-TR" sz="900" dirty="0">
                <a:solidFill>
                  <a:srgbClr val="1E3063"/>
                </a:solidFill>
                <a:latin typeface="Instrument Sans Medium" panose="020B0604020202020204" charset="0"/>
              </a:rPr>
              <a:t> </a:t>
            </a:r>
            <a:r>
              <a:rPr lang="tr-TR" sz="900" dirty="0" err="1">
                <a:solidFill>
                  <a:srgbClr val="1E3063"/>
                </a:solidFill>
                <a:latin typeface="Instrument Sans Medium" panose="020B0604020202020204" charset="0"/>
              </a:rPr>
              <a:t>storage</a:t>
            </a:r>
            <a:endParaRPr lang="en-US" sz="900" dirty="0">
              <a:solidFill>
                <a:srgbClr val="1E3063"/>
              </a:solidFill>
              <a:latin typeface="Instrument Sans Medium" panose="020B0604020202020204" charset="0"/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C1B2C0D0-47E1-2DA1-FB9C-013EEB97F728}"/>
              </a:ext>
            </a:extLst>
          </p:cNvPr>
          <p:cNvSpPr/>
          <p:nvPr/>
        </p:nvSpPr>
        <p:spPr>
          <a:xfrm>
            <a:off x="8027125" y="4846939"/>
            <a:ext cx="1116875" cy="296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17984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060103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Overall, Mavi's e-commerce website offers a simple and user-friendly customer journey. The navigation is clear, product pages are well-designed, and the add-to-cart process works smoothly.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1878955"/>
            <a:ext cx="2292697" cy="1686744"/>
          </a:xfrm>
          <a:prstGeom prst="roundRect">
            <a:avLst>
              <a:gd name="adj" fmla="val 7446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Text 3"/>
          <p:cNvSpPr/>
          <p:nvPr/>
        </p:nvSpPr>
        <p:spPr>
          <a:xfrm>
            <a:off x="635645" y="2018481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Works Well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5645" y="2318891"/>
            <a:ext cx="201364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design, clear categories, and a frictionless add-to-cart experience create a solid foundation.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184" y="1878955"/>
            <a:ext cx="2292697" cy="1686744"/>
          </a:xfrm>
          <a:prstGeom prst="roundRect">
            <a:avLst>
              <a:gd name="adj" fmla="val 7446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3065711" y="2018481"/>
            <a:ext cx="20136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Where to Improve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65711" y="2318891"/>
            <a:ext cx="201364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Small changes — like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optimizing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navigation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menus,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banners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and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more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tr-TR" sz="1050" dirty="0" err="1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accesibility</a:t>
            </a:r>
            <a:r>
              <a:rPr lang="tr-TR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could boost both satisfaction and conversion.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00270" y="4143003"/>
            <a:ext cx="44437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Ahmet Tunahan Özkan</a:t>
            </a:r>
            <a:endParaRPr lang="en-US" dirty="0">
              <a:solidFill>
                <a:srgbClr val="1E3063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5645" y="4143003"/>
            <a:ext cx="44437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649</Words>
  <Application>Microsoft Office PowerPoint</Application>
  <PresentationFormat>Ekran Gösterisi (16:9)</PresentationFormat>
  <Paragraphs>84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Instrument Sans Bold</vt:lpstr>
      <vt:lpstr>Arial</vt:lpstr>
      <vt:lpstr>Instrument Sans Medium</vt:lpstr>
      <vt:lpstr>Instrument Sans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AHMET TUNAHAN ÖZKAN</cp:lastModifiedBy>
  <cp:revision>3</cp:revision>
  <dcterms:created xsi:type="dcterms:W3CDTF">2026-08-07T19:42:28Z</dcterms:created>
  <dcterms:modified xsi:type="dcterms:W3CDTF">2026-08-07T23:40:24Z</dcterms:modified>
</cp:coreProperties>
</file>